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273864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188720"/>
            <a:ext cx="3840480" cy="3840480"/>
          </a:xfrm>
          <a:prstGeom prst="ellipse">
            <a:avLst/>
          </a:prstGeom>
          <a:solidFill>
            <a:srgbClr val="27317A"/>
          </a:solidFill>
          <a:ln/>
        </p:spPr>
      </p:sp>
      <p:sp>
        <p:nvSpPr>
          <p:cNvPr id="3" name="Shape 1"/>
          <p:cNvSpPr/>
          <p:nvPr/>
        </p:nvSpPr>
        <p:spPr>
          <a:xfrm>
            <a:off x="10881360" y="4663440"/>
            <a:ext cx="2377440" cy="2377440"/>
          </a:xfrm>
          <a:prstGeom prst="ellipse">
            <a:avLst/>
          </a:prstGeom>
          <a:solidFill>
            <a:srgbClr val="27317A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4173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DSA-3 PROJECT  |  PROBLEM STATEMENT REVIEW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1874520"/>
            <a:ext cx="96012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Intelligent Student Record</a:t>
            </a:r>
            <a:endParaRPr lang="en-US" sz="4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Search System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379476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efficient repository-driven search system for student academic records.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4709160"/>
            <a:ext cx="2011680" cy="0"/>
          </a:xfrm>
          <a:prstGeom prst="line">
            <a:avLst/>
          </a:prstGeom>
          <a:noFill/>
          <a:ln w="38100">
            <a:solidFill>
              <a:srgbClr val="3D5AF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948960"/>
            <a:ext cx="7315200" cy="6326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Members: </a:t>
            </a: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Kairav Vashi – 2520030582</a:t>
            </a:r>
          </a:p>
          <a:p>
            <a:pPr marL="0" indent="0"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     Sai Harshith Reddy – 2520030375</a:t>
            </a:r>
          </a:p>
          <a:p>
            <a:pPr marL="0" indent="0"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     A. </a:t>
            </a:r>
            <a:r>
              <a:rPr lang="en-US" sz="1500" b="1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Yoshik</a:t>
            </a: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- 2520030574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57150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1  •  Section 9  •  AY 2026-27</a:t>
            </a:r>
            <a:endParaRPr lang="en-US" sz="15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858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85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10" dirty="0"/>
          </a:p>
        </p:txBody>
      </p:sp>
      <p:sp>
        <p:nvSpPr>
          <p:cNvPr id="4" name="Text 2"/>
          <p:cNvSpPr/>
          <p:nvPr/>
        </p:nvSpPr>
        <p:spPr>
          <a:xfrm>
            <a:off x="1508760" y="658368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020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Abstract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1417320"/>
            <a:ext cx="10515600" cy="0"/>
          </a:xfrm>
          <a:prstGeom prst="line">
            <a:avLst/>
          </a:prstGeom>
          <a:noFill/>
          <a:ln w="12700">
            <a:solidFill>
              <a:srgbClr val="E3E7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828800"/>
            <a:ext cx="667512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institutions maintain thousands of student records — names, roll numbers, departments, courses, marks, attendance, and achievements.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builds a digital repository of student records with fast, reliable search and retrieval, replacing slow manual lookup.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in Java using core data structures — ArrayList for storage, HashMap for instant indexed lookup by roll number.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to grow in stages: starting with basic keyword search, then layering in fuzzy matching, ranking, and auto-complete.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955280" y="1828800"/>
            <a:ext cx="3383280" cy="4206240"/>
          </a:xfrm>
          <a:prstGeom prst="roundRect">
            <a:avLst>
              <a:gd name="adj" fmla="val 3243"/>
            </a:avLst>
          </a:prstGeom>
          <a:solidFill>
            <a:srgbClr val="F7F9FC"/>
          </a:solidFill>
          <a:ln/>
        </p:spPr>
      </p:sp>
      <p:sp>
        <p:nvSpPr>
          <p:cNvPr id="8" name="Text 6"/>
          <p:cNvSpPr/>
          <p:nvPr/>
        </p:nvSpPr>
        <p:spPr>
          <a:xfrm>
            <a:off x="8275320" y="21488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Idea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75320" y="251460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Store once,</a:t>
            </a:r>
            <a:endParaRPr lang="en-US" sz="2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search fast.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8275320" y="3749040"/>
            <a:ext cx="2651760" cy="0"/>
          </a:xfrm>
          <a:prstGeom prst="line">
            <a:avLst/>
          </a:prstGeom>
          <a:noFill/>
          <a:ln w="12700">
            <a:solidFill>
              <a:srgbClr val="D6DC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75320" y="3977640"/>
            <a:ext cx="27889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ArrayList  +  HashMap</a:t>
            </a:r>
            <a:endParaRPr lang="en-US" sz="14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search  →  Indexed search</a:t>
            </a:r>
            <a:endParaRPr lang="en-US" sz="14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 →  Advanced retrieval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Student Record Search System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858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85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10" dirty="0"/>
          </a:p>
        </p:txBody>
      </p:sp>
      <p:sp>
        <p:nvSpPr>
          <p:cNvPr id="4" name="Text 2"/>
          <p:cNvSpPr/>
          <p:nvPr/>
        </p:nvSpPr>
        <p:spPr>
          <a:xfrm>
            <a:off x="1508760" y="658368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020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1417320"/>
            <a:ext cx="10515600" cy="0"/>
          </a:xfrm>
          <a:prstGeom prst="line">
            <a:avLst/>
          </a:prstGeom>
          <a:noFill/>
          <a:ln w="12700">
            <a:solidFill>
              <a:srgbClr val="E3E7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874520"/>
            <a:ext cx="5074920" cy="2057400"/>
          </a:xfrm>
          <a:prstGeom prst="roundRect">
            <a:avLst>
              <a:gd name="adj" fmla="val 4444"/>
            </a:avLst>
          </a:prstGeom>
          <a:solidFill>
            <a:srgbClr val="F7F9FC"/>
          </a:solidFill>
          <a:ln/>
        </p:spPr>
      </p:sp>
      <p:sp>
        <p:nvSpPr>
          <p:cNvPr id="7" name="Shape 5"/>
          <p:cNvSpPr/>
          <p:nvPr/>
        </p:nvSpPr>
        <p:spPr>
          <a:xfrm>
            <a:off x="1143000" y="2148840"/>
            <a:ext cx="457200" cy="457200"/>
          </a:xfrm>
          <a:prstGeom prst="ellipse">
            <a:avLst/>
          </a:prstGeom>
          <a:solidFill>
            <a:srgbClr val="3D5AFE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2148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783080" y="2130552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Data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43000" y="2743200"/>
            <a:ext cx="45262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Institutions store thousands of records across roll numbers, departments, courses, marks, and attendance.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309360" y="1874520"/>
            <a:ext cx="5074920" cy="2057400"/>
          </a:xfrm>
          <a:prstGeom prst="roundRect">
            <a:avLst>
              <a:gd name="adj" fmla="val 4444"/>
            </a:avLst>
          </a:prstGeom>
          <a:solidFill>
            <a:srgbClr val="F7F9FC"/>
          </a:solidFill>
          <a:ln/>
        </p:spPr>
      </p:sp>
      <p:sp>
        <p:nvSpPr>
          <p:cNvPr id="12" name="Shape 10"/>
          <p:cNvSpPr/>
          <p:nvPr/>
        </p:nvSpPr>
        <p:spPr>
          <a:xfrm>
            <a:off x="6583680" y="2148840"/>
            <a:ext cx="457200" cy="457200"/>
          </a:xfrm>
          <a:prstGeom prst="ellipse">
            <a:avLst/>
          </a:prstGeom>
          <a:solidFill>
            <a:srgbClr val="3D5AFE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0" y="2148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223760" y="2130552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Manual Search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583680" y="2743200"/>
            <a:ext cx="45262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Locating a specific student's details by scanning lists manually is time-consuming and error-prone.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68680" y="4206240"/>
            <a:ext cx="5074920" cy="2057400"/>
          </a:xfrm>
          <a:prstGeom prst="roundRect">
            <a:avLst>
              <a:gd name="adj" fmla="val 4444"/>
            </a:avLst>
          </a:prstGeom>
          <a:solidFill>
            <a:srgbClr val="F7F9FC"/>
          </a:solidFill>
          <a:ln/>
        </p:spPr>
      </p:sp>
      <p:sp>
        <p:nvSpPr>
          <p:cNvPr id="17" name="Shape 15"/>
          <p:cNvSpPr/>
          <p:nvPr/>
        </p:nvSpPr>
        <p:spPr>
          <a:xfrm>
            <a:off x="1143000" y="4480560"/>
            <a:ext cx="457200" cy="457200"/>
          </a:xfrm>
          <a:prstGeom prst="ellipse">
            <a:avLst/>
          </a:prstGeom>
          <a:solidFill>
            <a:srgbClr val="3D5AFE"/>
          </a:solidFill>
          <a:ln/>
        </p:spPr>
      </p:sp>
      <p:sp>
        <p:nvSpPr>
          <p:cNvPr id="18" name="Text 16"/>
          <p:cNvSpPr/>
          <p:nvPr/>
        </p:nvSpPr>
        <p:spPr>
          <a:xfrm>
            <a:off x="1143000" y="4480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783080" y="4462272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Tolerance for Errors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43000" y="5074920"/>
            <a:ext cx="45262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Typos, partial names, or incomplete roll numbers cause basic tools to return no results at all.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309360" y="4206240"/>
            <a:ext cx="5074920" cy="2057400"/>
          </a:xfrm>
          <a:prstGeom prst="roundRect">
            <a:avLst>
              <a:gd name="adj" fmla="val 4444"/>
            </a:avLst>
          </a:prstGeom>
          <a:solidFill>
            <a:srgbClr val="F7F9FC"/>
          </a:solidFill>
          <a:ln/>
        </p:spPr>
      </p:sp>
      <p:sp>
        <p:nvSpPr>
          <p:cNvPr id="22" name="Shape 20"/>
          <p:cNvSpPr/>
          <p:nvPr/>
        </p:nvSpPr>
        <p:spPr>
          <a:xfrm>
            <a:off x="6583680" y="4480560"/>
            <a:ext cx="457200" cy="457200"/>
          </a:xfrm>
          <a:prstGeom prst="ellipse">
            <a:avLst/>
          </a:prstGeom>
          <a:solidFill>
            <a:srgbClr val="3D5AFE"/>
          </a:solidFill>
          <a:ln/>
        </p:spPr>
      </p:sp>
      <p:sp>
        <p:nvSpPr>
          <p:cNvPr id="23" name="Text 21"/>
          <p:cNvSpPr/>
          <p:nvPr/>
        </p:nvSpPr>
        <p:spPr>
          <a:xfrm>
            <a:off x="6583680" y="4480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223760" y="4462272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Ranking of Results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583680" y="5074920"/>
            <a:ext cx="45262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lookup methods return matches in no particular order, with no sense of relevance.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Student Record Search System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943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594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10" dirty="0"/>
          </a:p>
        </p:txBody>
      </p:sp>
      <p:sp>
        <p:nvSpPr>
          <p:cNvPr id="4" name="Text 2"/>
          <p:cNvSpPr/>
          <p:nvPr/>
        </p:nvSpPr>
        <p:spPr>
          <a:xfrm>
            <a:off x="1508760" y="56692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020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Functionalities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1280160"/>
            <a:ext cx="10515600" cy="0"/>
          </a:xfrm>
          <a:prstGeom prst="line">
            <a:avLst/>
          </a:prstGeom>
          <a:noFill/>
          <a:ln w="12700">
            <a:solidFill>
              <a:srgbClr val="E3E7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691640"/>
            <a:ext cx="3429000" cy="2103120"/>
          </a:xfrm>
          <a:prstGeom prst="roundRect">
            <a:avLst>
              <a:gd name="adj" fmla="val 4348"/>
            </a:avLst>
          </a:prstGeom>
          <a:solidFill>
            <a:srgbClr val="F7F9FC"/>
          </a:solidFill>
          <a:ln/>
        </p:spPr>
      </p:sp>
      <p:sp>
        <p:nvSpPr>
          <p:cNvPr id="7" name="Shape 5"/>
          <p:cNvSpPr/>
          <p:nvPr/>
        </p:nvSpPr>
        <p:spPr>
          <a:xfrm>
            <a:off x="1078992" y="194767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1078992" y="1947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78992" y="2560320"/>
            <a:ext cx="29169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&amp; Store Records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1078992" y="2971800"/>
            <a:ext cx="291693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roll no, name, department, course, marks, attendance, and achievements.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480560" y="1691640"/>
            <a:ext cx="3429000" cy="2103120"/>
          </a:xfrm>
          <a:prstGeom prst="roundRect">
            <a:avLst>
              <a:gd name="adj" fmla="val 4348"/>
            </a:avLst>
          </a:prstGeom>
          <a:solidFill>
            <a:srgbClr val="F7F9FC"/>
          </a:solidFill>
          <a:ln/>
        </p:spPr>
      </p:sp>
      <p:sp>
        <p:nvSpPr>
          <p:cNvPr id="12" name="Shape 10"/>
          <p:cNvSpPr/>
          <p:nvPr/>
        </p:nvSpPr>
        <p:spPr>
          <a:xfrm>
            <a:off x="4736592" y="194767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4736592" y="1947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36592" y="2560320"/>
            <a:ext cx="29169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Keyword Search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4736592" y="2971800"/>
            <a:ext cx="291693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by name, roll number, or course using simple string matching.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138160" y="1691640"/>
            <a:ext cx="3429000" cy="2103120"/>
          </a:xfrm>
          <a:prstGeom prst="roundRect">
            <a:avLst>
              <a:gd name="adj" fmla="val 4348"/>
            </a:avLst>
          </a:prstGeom>
          <a:solidFill>
            <a:srgbClr val="F7F9FC"/>
          </a:solidFill>
          <a:ln/>
        </p:spPr>
      </p:sp>
      <p:sp>
        <p:nvSpPr>
          <p:cNvPr id="17" name="Shape 15"/>
          <p:cNvSpPr/>
          <p:nvPr/>
        </p:nvSpPr>
        <p:spPr>
          <a:xfrm>
            <a:off x="8394192" y="194767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8394192" y="1947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394192" y="2560320"/>
            <a:ext cx="29169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Indexed Lookup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8394192" y="2971800"/>
            <a:ext cx="291693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HashMap keyed by roll number for instant, constant-time retrieval.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22960" y="4069080"/>
            <a:ext cx="3429000" cy="2103120"/>
          </a:xfrm>
          <a:prstGeom prst="roundRect">
            <a:avLst>
              <a:gd name="adj" fmla="val 4348"/>
            </a:avLst>
          </a:prstGeom>
          <a:solidFill>
            <a:srgbClr val="F7F9FC"/>
          </a:solidFill>
          <a:ln/>
        </p:spPr>
      </p:sp>
      <p:sp>
        <p:nvSpPr>
          <p:cNvPr id="22" name="Shape 20"/>
          <p:cNvSpPr/>
          <p:nvPr/>
        </p:nvSpPr>
        <p:spPr>
          <a:xfrm>
            <a:off x="1078992" y="432511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1078992" y="43251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78992" y="4937760"/>
            <a:ext cx="29169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Fuzzy Search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1078992" y="5349240"/>
            <a:ext cx="291693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Tolerant of typos and partial input — finds close matches, not just exact ones.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480560" y="4069080"/>
            <a:ext cx="3429000" cy="2103120"/>
          </a:xfrm>
          <a:prstGeom prst="roundRect">
            <a:avLst>
              <a:gd name="adj" fmla="val 4348"/>
            </a:avLst>
          </a:prstGeom>
          <a:solidFill>
            <a:srgbClr val="F7F9FC"/>
          </a:solidFill>
          <a:ln/>
        </p:spPr>
      </p:sp>
      <p:sp>
        <p:nvSpPr>
          <p:cNvPr id="27" name="Shape 25"/>
          <p:cNvSpPr/>
          <p:nvPr/>
        </p:nvSpPr>
        <p:spPr>
          <a:xfrm>
            <a:off x="4736592" y="432511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8" name="Text 26"/>
          <p:cNvSpPr/>
          <p:nvPr/>
        </p:nvSpPr>
        <p:spPr>
          <a:xfrm>
            <a:off x="4736592" y="43251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736592" y="4937760"/>
            <a:ext cx="29169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Results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4736592" y="5349240"/>
            <a:ext cx="291693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scored and sorted by relevance instead of shown in random order.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8138160" y="4069080"/>
            <a:ext cx="3429000" cy="2103120"/>
          </a:xfrm>
          <a:prstGeom prst="roundRect">
            <a:avLst>
              <a:gd name="adj" fmla="val 4348"/>
            </a:avLst>
          </a:prstGeom>
          <a:solidFill>
            <a:srgbClr val="F7F9FC"/>
          </a:solidFill>
          <a:ln/>
        </p:spPr>
      </p:sp>
      <p:sp>
        <p:nvSpPr>
          <p:cNvPr id="32" name="Shape 30"/>
          <p:cNvSpPr/>
          <p:nvPr/>
        </p:nvSpPr>
        <p:spPr>
          <a:xfrm>
            <a:off x="8394192" y="432511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3" name="Text 31"/>
          <p:cNvSpPr/>
          <p:nvPr/>
        </p:nvSpPr>
        <p:spPr>
          <a:xfrm>
            <a:off x="8394192" y="43251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394192" y="4937760"/>
            <a:ext cx="29169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Auto-Complete</a:t>
            </a:r>
            <a:endParaRPr lang="en-US" sz="1450" dirty="0"/>
          </a:p>
        </p:txBody>
      </p:sp>
      <p:sp>
        <p:nvSpPr>
          <p:cNvPr id="35" name="Text 33"/>
          <p:cNvSpPr/>
          <p:nvPr/>
        </p:nvSpPr>
        <p:spPr>
          <a:xfrm>
            <a:off x="8394192" y="5349240"/>
            <a:ext cx="291693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Suggests matching names as the user types, for a smoother search experience.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Student Record Search System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858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85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10" dirty="0"/>
          </a:p>
        </p:txBody>
      </p:sp>
      <p:sp>
        <p:nvSpPr>
          <p:cNvPr id="4" name="Text 2"/>
          <p:cNvSpPr/>
          <p:nvPr/>
        </p:nvSpPr>
        <p:spPr>
          <a:xfrm>
            <a:off x="1508760" y="658368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020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&amp; Technologies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1417320"/>
            <a:ext cx="10515600" cy="0"/>
          </a:xfrm>
          <a:prstGeom prst="line">
            <a:avLst/>
          </a:prstGeom>
          <a:noFill/>
          <a:ln w="12700">
            <a:solidFill>
              <a:srgbClr val="E3E7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8288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828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1210" dirty="0"/>
          </a:p>
        </p:txBody>
      </p:sp>
      <p:sp>
        <p:nvSpPr>
          <p:cNvPr id="8" name="Text 6"/>
          <p:cNvSpPr/>
          <p:nvPr/>
        </p:nvSpPr>
        <p:spPr>
          <a:xfrm>
            <a:off x="1600200" y="1801368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114800" y="1801368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(only core, no external frameworks)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68680" y="2532888"/>
            <a:ext cx="10515600" cy="0"/>
          </a:xfrm>
          <a:prstGeom prst="line">
            <a:avLst/>
          </a:prstGeom>
          <a:noFill/>
          <a:ln w="12700">
            <a:solidFill>
              <a:srgbClr val="EEF1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68680" y="2670048"/>
            <a:ext cx="502920" cy="502920"/>
          </a:xfrm>
          <a:prstGeom prst="ellipse">
            <a:avLst/>
          </a:prstGeom>
          <a:solidFill>
            <a:srgbClr val="3D5AFE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26700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210" dirty="0"/>
          </a:p>
        </p:txBody>
      </p:sp>
      <p:sp>
        <p:nvSpPr>
          <p:cNvPr id="13" name="Text 11"/>
          <p:cNvSpPr/>
          <p:nvPr/>
        </p:nvSpPr>
        <p:spPr>
          <a:xfrm>
            <a:off x="1600200" y="2642616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114800" y="2642616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ArrayList for the record repository; HashMap for indexed lookup by roll number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68680" y="3374136"/>
            <a:ext cx="10515600" cy="0"/>
          </a:xfrm>
          <a:prstGeom prst="line">
            <a:avLst/>
          </a:prstGeom>
          <a:noFill/>
          <a:ln w="12700">
            <a:solidFill>
              <a:srgbClr val="EEF1F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68680" y="3511296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351129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10" dirty="0"/>
          </a:p>
        </p:txBody>
      </p:sp>
      <p:sp>
        <p:nvSpPr>
          <p:cNvPr id="18" name="Text 16"/>
          <p:cNvSpPr/>
          <p:nvPr/>
        </p:nvSpPr>
        <p:spPr>
          <a:xfrm>
            <a:off x="1600200" y="3483864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</a:t>
            </a: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114800" y="3483864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search, string matching, edit-distance based fuzzy search, Comparator-based ranking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68680" y="4215384"/>
            <a:ext cx="10515600" cy="0"/>
          </a:xfrm>
          <a:prstGeom prst="line">
            <a:avLst/>
          </a:prstGeom>
          <a:noFill/>
          <a:ln w="12700">
            <a:solidFill>
              <a:srgbClr val="EEF1F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8680" y="4352544"/>
            <a:ext cx="502920" cy="502920"/>
          </a:xfrm>
          <a:prstGeom prst="ellipse">
            <a:avLst/>
          </a:prstGeom>
          <a:solidFill>
            <a:srgbClr val="3D5AFE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435254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210" dirty="0"/>
          </a:p>
        </p:txBody>
      </p:sp>
      <p:sp>
        <p:nvSpPr>
          <p:cNvPr id="23" name="Text 21"/>
          <p:cNvSpPr/>
          <p:nvPr/>
        </p:nvSpPr>
        <p:spPr>
          <a:xfrm>
            <a:off x="1600200" y="4325112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</a:t>
            </a: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114800" y="4325112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Console-based </a:t>
            </a:r>
            <a:r>
              <a:rPr lang="en-US" sz="160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menu, </a:t>
            </a:r>
            <a:r>
              <a:rPr lang="en-US" sz="160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Scanner for input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68680" y="5056632"/>
            <a:ext cx="10515600" cy="0"/>
          </a:xfrm>
          <a:prstGeom prst="line">
            <a:avLst/>
          </a:prstGeom>
          <a:noFill/>
          <a:ln w="12700">
            <a:solidFill>
              <a:srgbClr val="EEF1F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68680" y="519379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7" name="Text 25"/>
          <p:cNvSpPr/>
          <p:nvPr/>
        </p:nvSpPr>
        <p:spPr>
          <a:xfrm>
            <a:off x="868680" y="51937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210" dirty="0"/>
          </a:p>
        </p:txBody>
      </p:sp>
      <p:sp>
        <p:nvSpPr>
          <p:cNvPr id="28" name="Text 26"/>
          <p:cNvSpPr/>
          <p:nvPr/>
        </p:nvSpPr>
        <p:spPr>
          <a:xfrm>
            <a:off x="1600200" y="516636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</a:t>
            </a: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114800" y="51663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 for team collaboration and version tracking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Student Record Search System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206240"/>
            <a:ext cx="4114800" cy="4114800"/>
          </a:xfrm>
          <a:prstGeom prst="ellipse">
            <a:avLst/>
          </a:prstGeom>
          <a:solidFill>
            <a:srgbClr val="27317A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85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10515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will deliver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214884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148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508760" y="1924346"/>
            <a:ext cx="9784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Java console application that stores, manages, and searches student records end-to-end.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" y="310896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108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508760" y="2884466"/>
            <a:ext cx="9784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accurate retrieval — exact match, indexed lookup by roll number, and fuzzy search for imperfect input.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22960" y="406908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4069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508760" y="3844586"/>
            <a:ext cx="9784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Ranked, relevant results and auto-complete suggestions for a smoother search experience.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22960" y="502920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5029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508760" y="4804706"/>
            <a:ext cx="9784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clear, explainable demonstration of core DSA concepts: lists, hashing, searching, and sorting — built in stages from basic to advanced.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2296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Student Record Search System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C8095E3-6D93-035D-1062-583B977D8E19}"/>
              </a:ext>
            </a:extLst>
          </p:cNvPr>
          <p:cNvSpPr txBox="1"/>
          <p:nvPr/>
        </p:nvSpPr>
        <p:spPr>
          <a:xfrm>
            <a:off x="3152192" y="2605573"/>
            <a:ext cx="588761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b="1" dirty="0">
                <a:solidFill>
                  <a:schemeClr val="tx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THANK YOU.</a:t>
            </a:r>
            <a:endParaRPr lang="en-IN" sz="7200" b="1" dirty="0">
              <a:solidFill>
                <a:schemeClr val="tx2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02254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547</Words>
  <Application>Microsoft Office PowerPoint</Application>
  <PresentationFormat>Widescreen</PresentationFormat>
  <Paragraphs>98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Kairav Vashi</cp:lastModifiedBy>
  <cp:revision>7</cp:revision>
  <dcterms:created xsi:type="dcterms:W3CDTF">2026-07-29T08:08:54Z</dcterms:created>
  <dcterms:modified xsi:type="dcterms:W3CDTF">2026-08-01T06:19:49Z</dcterms:modified>
</cp:coreProperties>
</file>